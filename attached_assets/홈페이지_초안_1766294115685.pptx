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1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9" Type="http://schemas.openxmlformats.org/officeDocument/2006/relationships/viewProps" Target="viewProps.xml"></Relationship><Relationship Id="rId30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slide" Target="../slides/slide3.xml"></Relationship><Relationship Id="rId2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r>
              <a:rPr lang="ko-KR" altLang="en-US"/>
              <a:t>장 용 준 원장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재활의학과 전문의 의학박사 </a:t>
            </a:r>
            <a:endParaRPr lang="ko-KR" altLang="en-US"/>
          </a:p>
          <a:p>
            <a:pPr marL="0" indent="0"/>
            <a:r>
              <a:rPr lang="ko-KR" altLang="en-US"/>
              <a:t>가톨릭대학교 재활의학교실 외래교수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&lt;학력&gt;</a:t>
            </a:r>
            <a:endParaRPr lang="ko-KR" altLang="en-US"/>
          </a:p>
          <a:p>
            <a:pPr marL="0" indent="0"/>
            <a:r>
              <a:rPr lang="ko-KR" altLang="en-US"/>
              <a:t>가톨릭대학교 의과대학 재활의학 석·박사 통합과정 졸업 </a:t>
            </a:r>
            <a:endParaRPr lang="ko-KR" altLang="en-US"/>
          </a:p>
          <a:p>
            <a:pPr marL="0" indent="0"/>
            <a:r>
              <a:rPr lang="ko-KR" altLang="en-US"/>
              <a:t>가톨릭대학교 의과대학 졸업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&lt;경력&gt;</a:t>
            </a:r>
            <a:endParaRPr lang="ko-KR" altLang="en-US"/>
          </a:p>
          <a:p>
            <a:pPr marL="0" indent="0"/>
            <a:r>
              <a:rPr lang="ko-KR" altLang="en-US"/>
              <a:t>가톨릭중앙의료원 수련의</a:t>
            </a:r>
            <a:endParaRPr lang="ko-KR" altLang="en-US"/>
          </a:p>
          <a:p>
            <a:pPr marL="0" indent="0"/>
            <a:r>
              <a:rPr lang="ko-KR" altLang="en-US"/>
              <a:t>가톨릭중앙의료원 재활의학과 전공의</a:t>
            </a:r>
            <a:endParaRPr lang="ko-KR" altLang="en-US"/>
          </a:p>
          <a:p>
            <a:pPr marL="0" indent="0"/>
            <a:r>
              <a:rPr lang="ko-KR" altLang="en-US"/>
              <a:t>가톨릭중앙의료원 재활의학과 지도전문의</a:t>
            </a:r>
            <a:endParaRPr lang="ko-KR" altLang="en-US"/>
          </a:p>
          <a:p>
            <a:pPr marL="0" indent="0"/>
            <a:r>
              <a:rPr lang="ko-KR" altLang="en-US"/>
              <a:t>가톨릭대학교 부천성모병원 재활의학과 외래교수</a:t>
            </a:r>
            <a:endParaRPr lang="ko-KR" altLang="en-US"/>
          </a:p>
          <a:p>
            <a:pPr marL="0" indent="0"/>
            <a:r>
              <a:rPr lang="ko-KR" altLang="en-US"/>
              <a:t>가톨릭대학교 서울성모병원 재활의학과 외래교수 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미국 도수치료학회 과정 수료 (Emory Rehabilitation Center)</a:t>
            </a:r>
            <a:endParaRPr lang="ko-KR" altLang="en-US"/>
          </a:p>
          <a:p>
            <a:pPr marL="0" indent="0"/>
            <a:r>
              <a:rPr lang="ko-KR" altLang="en-US"/>
              <a:t>독일 체외충격파치료 과정 수료 (Medizinische Gesellschaft für Myofasziale Schmerzen)</a:t>
            </a:r>
            <a:endParaRPr lang="ko-KR" altLang="en-US"/>
          </a:p>
          <a:p>
            <a:pPr marL="0" indent="0"/>
            <a:r>
              <a:rPr lang="ko-KR" altLang="en-US"/>
              <a:t>스페인 슈로스 척추측만증 운동치료 과정 수료</a:t>
            </a:r>
            <a:endParaRPr lang="ko-KR" altLang="en-US"/>
          </a:p>
          <a:p>
            <a:pPr marL="0" indent="0"/>
            <a:r>
              <a:rPr lang="ko-KR" altLang="en-US"/>
              <a:t>대한정주의학회 정맥주사영양요법(IVNT) 인증의</a:t>
            </a:r>
            <a:endParaRPr lang="ko-KR" altLang="en-US"/>
          </a:p>
          <a:p>
            <a:pPr marL="0" indent="0"/>
            <a:r>
              <a:rPr lang="ko-KR" altLang="en-US"/>
              <a:t>대한재활의학회 장애인보조기구처방검수 전문화 과정 수료</a:t>
            </a:r>
            <a:endParaRPr lang="ko-KR" altLang="en-US"/>
          </a:p>
          <a:p>
            <a:pPr marL="0" indent="0"/>
            <a:r>
              <a:rPr lang="ko-KR" altLang="en-US"/>
              <a:t>일본 오사카 의대 부속병원 재활의학과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前)가톨릭의과대학 재활의학교실 초음파중재술 워크샵 강사</a:t>
            </a:r>
            <a:endParaRPr lang="ko-KR" altLang="en-US"/>
          </a:p>
          <a:p>
            <a:pPr marL="0" indent="0"/>
            <a:r>
              <a:rPr lang="ko-KR" altLang="en-US"/>
              <a:t>前)대한해부학회 KAA International Anatomy Symposium 초청 강사</a:t>
            </a:r>
            <a:endParaRPr lang="ko-KR" altLang="en-US"/>
          </a:p>
          <a:p>
            <a:pPr marL="0" indent="0"/>
            <a:r>
              <a:rPr lang="ko-KR" altLang="en-US"/>
              <a:t>前)헬스조선 의학기사 자문의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&lt;학회활동&gt;</a:t>
            </a:r>
            <a:endParaRPr lang="ko-KR" altLang="en-US"/>
          </a:p>
          <a:p>
            <a:pPr marL="0" indent="0"/>
            <a:r>
              <a:rPr lang="ko-KR" altLang="en-US"/>
              <a:t>대한의사협회 정회원</a:t>
            </a:r>
            <a:endParaRPr lang="ko-KR" altLang="en-US"/>
          </a:p>
          <a:p>
            <a:pPr marL="0" indent="0"/>
            <a:r>
              <a:rPr lang="ko-KR" altLang="en-US"/>
              <a:t>대한재활의학회 정회원</a:t>
            </a:r>
            <a:endParaRPr lang="ko-KR" altLang="en-US"/>
          </a:p>
          <a:p>
            <a:pPr marL="0" indent="0"/>
            <a:r>
              <a:rPr lang="ko-KR" altLang="en-US"/>
              <a:t>대한도수의학회 정회원</a:t>
            </a:r>
            <a:endParaRPr lang="ko-KR" altLang="en-US"/>
          </a:p>
          <a:p>
            <a:pPr marL="0" indent="0"/>
            <a:r>
              <a:rPr lang="ko-KR" altLang="en-US"/>
              <a:t>CYRIAX 정형의학연구회 정회원</a:t>
            </a:r>
            <a:endParaRPr lang="ko-KR" altLang="en-US"/>
          </a:p>
          <a:p>
            <a:pPr marL="0" indent="0"/>
            <a:r>
              <a:rPr lang="ko-KR" altLang="en-US"/>
              <a:t>대한충격파치료학회 정회원</a:t>
            </a:r>
            <a:endParaRPr lang="ko-KR" altLang="en-US"/>
          </a:p>
          <a:p>
            <a:pPr marL="0" indent="0"/>
            <a:r>
              <a:rPr lang="ko-KR" altLang="en-US"/>
              <a:t>대한임상통증학회 정회원</a:t>
            </a:r>
            <a:endParaRPr lang="ko-KR" altLang="en-US"/>
          </a:p>
          <a:p>
            <a:pPr marL="0" indent="0"/>
            <a:r>
              <a:rPr lang="ko-KR" altLang="en-US"/>
              <a:t>대한노인재활의학회 정회원</a:t>
            </a:r>
            <a:endParaRPr lang="ko-KR" altLang="en-US"/>
          </a:p>
          <a:p>
            <a:pPr marL="0" indent="0"/>
            <a:r>
              <a:rPr lang="ko-KR" altLang="en-US"/>
              <a:t>대한정주의학회 정회원</a:t>
            </a:r>
            <a:endParaRPr lang="ko-KR" altLang="en-US"/>
          </a:p>
          <a:p>
            <a:pPr marL="0" indent="0"/>
            <a:r>
              <a:rPr lang="ko-KR" altLang="en-US"/>
              <a:t>American Congress of Rehabilitation Medicine Member</a:t>
            </a:r>
            <a:endParaRPr lang="ko-KR" altLang="en-US"/>
          </a:p>
          <a:p>
            <a:pPr marL="0" indent="0"/>
            <a:r>
              <a:rPr lang="ko-KR" altLang="en-US"/>
              <a:t>American Academy of Manipulative Therapy Member</a:t>
            </a:r>
            <a:endParaRPr lang="ko-KR" altLang="en-US"/>
          </a:p>
          <a:p>
            <a:pPr marL="0" indent="0"/>
            <a:r>
              <a:rPr lang="ko-KR" altLang="en-US"/>
              <a:t>European Society of Physical and Rehabilitation Medicine Member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&lt;수상&gt;</a:t>
            </a:r>
            <a:endParaRPr lang="ko-KR" altLang="en-US"/>
          </a:p>
          <a:p>
            <a:pPr marL="0" indent="0"/>
            <a:r>
              <a:rPr lang="ko-KR" altLang="en-US"/>
              <a:t>가톨릭대학교 재활의학교실 최우수전공의상</a:t>
            </a:r>
            <a:endParaRPr lang="ko-KR" altLang="en-US"/>
          </a:p>
          <a:p>
            <a:pPr marL="0" indent="0"/>
            <a:r>
              <a:rPr lang="ko-KR" altLang="en-US"/>
              <a:t>가톨릭대학교 재활의학교실 우수연구상</a:t>
            </a:r>
            <a:endParaRPr lang="ko-KR" altLang="en-US"/>
          </a:p>
          <a:p>
            <a:pPr marL="0" indent="0"/>
            <a:r>
              <a:rPr lang="ko-KR" altLang="en-US"/>
              <a:t>대한재활의학회 추계학술대회 우수포스터연재상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&lt;기타 활동&gt;</a:t>
            </a:r>
            <a:endParaRPr lang="ko-KR" altLang="en-US"/>
          </a:p>
          <a:p>
            <a:pPr marL="0" indent="0"/>
            <a:r>
              <a:rPr lang="ko-KR" altLang="en-US"/>
              <a:t>초음파 유도하 근골격계 주사치료 저자 (대한의학)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&lt;논문&gt;</a:t>
            </a:r>
            <a:endParaRPr lang="ko-KR" altLang="en-US"/>
          </a:p>
          <a:p>
            <a:pPr marL="0" indent="0"/>
            <a:r>
              <a:rPr lang="ko-KR" altLang="en-US"/>
              <a:t>1. Can initial sarcopenia affect poststroke rehabilitation outcome?</a:t>
            </a:r>
            <a:endParaRPr lang="ko-KR" altLang="en-US"/>
          </a:p>
          <a:p>
            <a:pPr marL="0" indent="0"/>
            <a:r>
              <a:rPr lang="ko-KR" altLang="en-US"/>
              <a:t>Journal of Clinical Neuroscience, 2020, vol 71,pp. 113-118</a:t>
            </a:r>
            <a:endParaRPr lang="ko-KR" altLang="en-US"/>
          </a:p>
          <a:p>
            <a:pPr marL="0" indent="0"/>
            <a:r>
              <a:rPr lang="ko-KR" altLang="en-US"/>
              <a:t>2. Survey of Botulinum Toxin Injections in Anticoagulated Patients: Korean Physiatrists' Preference in Controlling Anticoagulation Profile Prior to Intramuscular Injection.</a:t>
            </a:r>
            <a:endParaRPr lang="ko-KR" altLang="en-US"/>
          </a:p>
          <a:p>
            <a:pPr marL="0" indent="0"/>
            <a:r>
              <a:rPr lang="ko-KR" altLang="en-US"/>
              <a:t>Ann Rehabil Med. 2016 Apr;40(2):279-87. doi: 10.5535/arm.2016.40.2.279. Epub 2016 Apr 25. Erratum in: Ann Rehabil Med. 2016 Jun;40(3):556.</a:t>
            </a:r>
            <a:endParaRPr lang="ko-KR" altLang="en-US"/>
          </a:p>
          <a:p>
            <a:pPr marL="0" indent="0"/>
            <a:r>
              <a:rPr lang="ko-KR" altLang="en-US"/>
              <a:t>3. Unilateral Pseudohypertrophy of Calf Muscles as a Clinical Manifestation of Lumbosacral Radiculopathy</a:t>
            </a:r>
            <a:endParaRPr lang="ko-KR" altLang="en-US"/>
          </a:p>
          <a:p>
            <a:pPr marL="0" indent="0"/>
            <a:r>
              <a:rPr lang="ko-KR" altLang="en-US"/>
              <a:t>Journal of Electrodiagnosis and Neuromuscular Diseases 2020;22(1):68-73.</a:t>
            </a:r>
            <a:endParaRPr lang="ko-KR" altLang="en-US"/>
          </a:p>
          <a:p>
            <a:pPr marL="0" indent="0"/>
            <a:r>
              <a:rPr lang="ko-KR" altLang="en-US"/>
              <a:t>4. Number processing error as a clinical manifestation of hemispatial neglect following hypoxic brain injury: A Case Report</a:t>
            </a:r>
            <a:endParaRPr lang="ko-KR" altLang="en-US"/>
          </a:p>
          <a:p>
            <a:pPr marL="0" indent="0"/>
            <a:r>
              <a:rPr lang="ko-KR" altLang="en-US"/>
              <a:t>Brain &amp; Neurorehabilitation 2020</a:t>
            </a:r>
            <a:endParaRPr lang="ko-KR" altLang="en-US"/>
          </a:p>
          <a:p>
            <a:pPr marL="0" indent="0"/>
            <a:r>
              <a:rPr lang="ko-KR" altLang="en-US"/>
              <a:t>5. YouTube as a learning tool for four shoulder tests.</a:t>
            </a:r>
            <a:endParaRPr lang="ko-KR" altLang="en-US"/>
          </a:p>
          <a:p>
            <a:pPr marL="0" indent="0"/>
            <a:r>
              <a:rPr lang="ko-KR" altLang="en-US"/>
              <a:t>Prim Health Care Res Dev. 2018 Oct 30:1-7</a:t>
            </a:r>
            <a:endParaRPr lang="ko-KR" altLang="en-US"/>
          </a:p>
          <a:p>
            <a:pPr marL="0" indent="0"/>
            <a:r>
              <a:rPr lang="ko-KR" altLang="en-US"/>
              <a:t>6. Smartphone Application Versus Pedometer to Promote Physical Activity in Prostate Cancer Patients. </a:t>
            </a:r>
            <a:endParaRPr lang="ko-KR" altLang="en-US"/>
          </a:p>
          <a:p>
            <a:pPr marL="0" indent="0"/>
            <a:r>
              <a:rPr lang="ko-KR" altLang="en-US"/>
              <a:t>Telemed J E Health. 2019 Dec;25(12):1231-1236</a:t>
            </a:r>
            <a:endParaRPr lang="ko-KR" altLang="en-US"/>
          </a:p>
          <a:p>
            <a:pPr marL="0" indent="0"/>
            <a:r>
              <a:rPr lang="ko-KR" altLang="en-US"/>
              <a:t>7. Effectiveness of hydrotherapy on balance and paretic knee strength in patients with stroke</a:t>
            </a:r>
            <a:endParaRPr lang="ko-KR" altLang="en-US"/>
          </a:p>
          <a:p>
            <a:pPr marL="0" indent="0"/>
            <a:r>
              <a:rPr lang="ko-KR" altLang="en-US"/>
              <a:t>American Journal of Physical Medicine &amp; Rehabilitation, 2020 May;99(5):409-419</a:t>
            </a:r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>
              <a:buFontTx/>
              <a:buNone/>
              <a:defRPr lang="en-GB" altLang="en-US" sz="12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image" Target="../media/fImage6909232841.png"></Relationship><Relationship Id="rId4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718411128467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104171206334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23301316500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 algn="ctr">
              <a:buFontTx/>
              <a:buNone/>
            </a:pPr>
            <a:r>
              <a:rPr lang="ko-KR" altLang="en-US" sz="2800"/>
              <a:t>S</a:t>
            </a:r>
            <a:r>
              <a:rPr lang="ko-KR" altLang="en-US" sz="2800"/>
              <a:t>eoul B</a:t>
            </a:r>
            <a:r>
              <a:rPr lang="ko-KR" altLang="en-US" sz="2800"/>
              <a:t>o</a:t>
            </a:r>
            <a:r>
              <a:rPr lang="ko-KR" altLang="en-US" sz="2800"/>
              <a:t>n Rehabilitation Clinic</a:t>
            </a:r>
            <a:endParaRPr lang="ko-KR" altLang="en-US" sz="2800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24000" y="3593465"/>
            <a:ext cx="9144635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E</a:t>
            </a:r>
            <a:r>
              <a:rPr lang="ko-KR" altLang="en-US"/>
              <a:t>nter Site</a:t>
            </a:r>
            <a:r>
              <a:rPr lang="ko-KR" altLang="en-US"/>
              <a:t/>
            </a:r>
            <a:br>
              <a:rPr lang="ko-KR" altLang="en-US"/>
            </a:br>
            <a:r>
              <a:rPr lang="ko-KR" altLang="en-US"/>
              <a:t/>
            </a:r>
            <a:br>
              <a:rPr lang="ko-KR" altLang="en-US"/>
            </a:br>
            <a:endParaRPr lang="ko-KR" altLang="en-US"/>
          </a:p>
        </p:txBody>
      </p:sp>
      <p:pic>
        <p:nvPicPr>
          <p:cNvPr id="4" name="그림 1" descr="C:/Users/user/AppData/Roaming/PolarisOffice9/ETemp/10616_18485832/fImage690923284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132570" y="0"/>
            <a:ext cx="3079750" cy="2009775"/>
          </a:xfrm>
          <a:prstGeom prst="rect"/>
          <a:noFill/>
        </p:spPr>
      </p:pic>
      <p:sp>
        <p:nvSpPr>
          <p:cNvPr id="5" name="텍스트 상자 2"/>
          <p:cNvSpPr txBox="1">
            <a:spLocks/>
          </p:cNvSpPr>
          <p:nvPr/>
        </p:nvSpPr>
        <p:spPr>
          <a:xfrm rot="0">
            <a:off x="9133205" y="2652395"/>
            <a:ext cx="2505710" cy="6470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배경사진은 </a:t>
            </a: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건물사진 혹</a:t>
            </a: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으로 </a:t>
            </a: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고려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좌상단 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SEOUL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BONE YAKSU -&gt; S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E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OUL BONE REHAB CLINIC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옆에 메뉴바는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처음 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클릭하면 좌측에서 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안없어졌으면 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좋겠음.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Menu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1 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Me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dical 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</a:t>
            </a:r>
            <a:r>
              <a:rPr lang="ko-KR"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taff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2 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Core Values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3 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Cutting edge diagnostic tools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4 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Integrated Treatment Solutions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5 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Cell Therapy (PRP)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6 </a:t>
            </a:r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Contact/Location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228600" indent="-228600">
              <a:buFont typeface="맑은 고딕"/>
              <a:buChar char="•"/>
            </a:pPr>
            <a:r>
              <a:rPr lang="ko-KR" altLang="en-US" sz="4400"/>
              <a:t>0</a:t>
            </a:r>
            <a:r>
              <a:rPr lang="ko-KR" altLang="en-US" sz="4400"/>
              <a:t>1 </a:t>
            </a:r>
            <a:r>
              <a:rPr lang="ko-KR" sz="4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Me</a:t>
            </a:r>
            <a:r>
              <a:rPr lang="ko-KR" sz="4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dical </a:t>
            </a:r>
            <a:r>
              <a:rPr lang="ko-KR" sz="4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</a:t>
            </a:r>
            <a:r>
              <a:rPr lang="ko-KR" sz="4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taff</a:t>
            </a:r>
            <a:endParaRPr lang="ko-KR" altLang="en-US" sz="4400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/>
              <a:t>약력 </a:t>
            </a:r>
            <a:r>
              <a:rPr lang="ko-KR" altLang="en-US"/>
              <a:t>(슬라이드노트 참고)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/>
              <a:t>하단에 문구 추가 </a:t>
            </a:r>
            <a:r>
              <a:rPr lang="ko-KR" altLang="en-US"/>
              <a:t> </a:t>
            </a:r>
            <a:r>
              <a:rPr lang="ko-KR" altLang="en-US"/>
              <a:t>+</a:t>
            </a:r>
            <a:r>
              <a:rPr lang="ko-KR" altLang="en-US"/>
              <a:t> </a:t>
            </a:r>
            <a:r>
              <a:rPr lang="ko-KR" altLang="en-US"/>
              <a:t>대표원장 싸인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>
              <a:buFontTx/>
              <a:buNone/>
            </a:pPr>
            <a:r>
              <a:rPr sz="10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"몸은 결코 거짓을 말하지 않습니다.통증은 그 진실을 전하는 가장 정직한 신호입니다."</a:t>
            </a:r>
            <a:endParaRPr lang="ko-KR" altLang="en-US" sz="10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우리는 보이는 증상 너머, 숨겨진 원인을 깊이 읽어냅니다. 현재의 신체 기능과 앞으로의 변화까지 세심하게 고려하여 가장 온전한 회복을 위해</a:t>
            </a:r>
            <a:r>
              <a:rPr sz="10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1000" b="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정성을 다해 진료하겠습니다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0</a:t>
            </a:r>
            <a:r>
              <a:rPr lang="ko-KR" altLang="en-US"/>
              <a:t>2 </a:t>
            </a:r>
            <a:r>
              <a:rPr lang="ko-KR" altLang="en-US"/>
              <a:t>C</a:t>
            </a:r>
            <a:r>
              <a:rPr lang="ko-KR" altLang="en-US"/>
              <a:t>ore Values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01. 융합된 전문성과 세계적 식견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[Expertise &amp; Global Perspective]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Dual Specialist Insight: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재활의학과 및 정형외과를 모두 전공한 의학박사(MD, PhD)의 통합적인 시각으로 질환의 근본 원인을 찾아냅니다.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Global Standard: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북미(캐나다, 미국), 유럽(독일, 스페인), 아시아(일본) 등 세계 유수 학회와 의료 현장에서 검증된 선진 치료 시스템을 도입하여 적용합니다.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Dedicated Primary Physician (일관된 주치의 시스템):우리는 다수의 의료진을 내세우지 않습니다.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검증된 실력을 갖춘 대표원장 1인이 진단부터 치료의 끝까지 전 과정을 책임집니다. 의료진 교체 없이 치료의 연속성이 보장되며, 환자 상태의 미세한 변화까지 놓치지 않는 일관되고 깊이 있는 '주치의 케어'를 제공합니다.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02. 포괄적이고 근본적인 접근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[Comprehensive Approach]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Beyond Pain: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눈에 보이는 통증만 쫓지 않습니다. 통증의 원인이 되는 근육, 신경, 그리고 신체 전반의 기능적 움직임까지 포괄적으로 분석하여 재발을 막는 근본 치료를 시행합니다.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Personalized Care: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획일화된 치료가 아닌, 환자 개개인의 상태와 라이프스타일을 고려한 '최적의 맞춤 치료 계획'을 수립합니다.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03. 타협하지 않는 원칙과 환경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[Principles &amp; Environment]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Safety &amp; Cleanliness: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4개 층 단독 건물을 사용하며, 환자의 '안정'과 철저한 '청결'을 제1원칙으로 삼는 쾌적한 치유 공간을 제공합니다. 3년연속 중구보건소 지정 우리동네안심병원으로 지정.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Advanced Technology: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대학병원급 최신 첨단 장비를 아낌없이 투자하여 진단의 정확도와 치료 효과를 극대화합니다.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Transparent Policy: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과잉 진료를 지양하고, 모든 치료 비용을 투명하게 공개하는 정직한 가격 정책으로 신뢰를 드립니다.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04. 진정한 환자 중심의 소통과 동행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[Patient-Centered Communication &amp; Partnership]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Clear Explanation: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어려운 의학 용어가 아닌 환자의 눈높이에서, 현재 상태와 통증의 원인을 상세하고 명확하게 설명해 드립니다.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Shared Decision Making: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일방적인 치료 결정이 아닌, 가능한 다양한 치료 옵션의 장단점을 투명하게 제공하고 환자와 함께 최선의 방법을 고민합니다.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Treatment Roadmap: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단순히 현재의 치료를 넘어, 앞으로 나아갈 장기적인 치료 방향성과 목표를 공유하여 치료 과정의 막연한 불안감을 해소합니다.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0</a:t>
            </a:r>
            <a:r>
              <a:rPr lang="ko-KR" altLang="en-US"/>
              <a:t>3 </a:t>
            </a:r>
            <a:r>
              <a:rPr sz="3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Cutting edge diagnostic tools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정확한 진단이 완치의 시작입니다.</a:t>
            </a:r>
            <a:endParaRPr lang="ko-KR" altLang="en-US" sz="20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lang="ko-KR"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서울본재</a:t>
            </a:r>
            <a:r>
              <a:rPr lang="ko-KR"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활의학과는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최첨단 진단 장비에 아낌없이 투자합니다. 통증의 근본 원인을 빠르고 정확하게 찾아내어, 환자분에게 가장 적합한 치료 계획을 수립하기 위함입니다.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★ 우리의 원칙: 모든 시술의 영상 가이드화 (Image-Guided Injection)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우리는 감이나 경험에만 의존하는 '블라인드 주사'를 지양합니다. </a:t>
            </a: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모든 주사 치료 및 시술은 반드시 초음파나 C-arm 실시간 영상 장비를 보면서 진행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합니다. 이를 통해 타겟 부위에 약물을 오차 없이 정확하게 투여하여 치료 효과를 극대화하고, 신경이나 혈관 손상 등의 부작용 위험을 최소화하여 독보적인 안전성을 확보합니다.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*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*아래 는 각각 아이콘으로 클릭시 설명뜨도록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 sz="20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20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01. 고해상도 디지털 X-ray</a:t>
            </a:r>
            <a:endParaRPr lang="ko-KR" altLang="en-US" sz="20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(High-Resolution Digital X-ray)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"뼈와 관절 상태를 확인하는 가장 기초적이고 필수적인 검사"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기존 필름 방식 대비 방사선 피폭량을 현저히 줄여 안전성을 높인 최신 디지털 X-ray 장비입니다. 촬영 즉시 고해상도의 선명한 영상을 획득하여 골절, 관절염, 척추 변형 등 골격계의 구조적인 이상 유무를 신속하고 정확하게 일차적으로 평가합니다.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20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02. 프리미엄 초음파 진단기 (3대 보유)</a:t>
            </a:r>
            <a:endParaRPr lang="ko-KR" altLang="en-US" sz="20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(Premium Musculoskeletal Ultrasound Systems - 3 Units)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"진료실에서 대기 없이 즉시 확인하는 '의사의 제2의 눈'"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X-ray로는 확인이 어려운 근육, 힘줄, 인대, 신경 등 연부 조직의 손상과 염증을 정밀하게 관찰합니다. 저희 병원은 하이엔드급 초음파 장비를 </a:t>
            </a: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총 3대 보유하여 각 진료실에 배치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했습니다. 환자분들은 별도의 검사실 이동이나 </a:t>
            </a: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대기 시간 없이, 진료 상담 도중 즉각적으로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아픈 부위를 초음파로 확인하고 설명을 들으실 수 있습니다. 또한 주사 치료 시 실시간 유도 영상으로 활용하여 정확한 치료를 돕습니다.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20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03. C-arm (이동형 실시간 투시 영상 장비)</a:t>
            </a:r>
            <a:endParaRPr lang="ko-KR" altLang="en-US" sz="20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(C-arm Fluoroscopy with SELD)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"정확도는 높이고 피폭은 최소화한, 안전한 비수술 치료의 핵심"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마치 우리 몸속을 실시간 동영상으로 보는 것과 같은 투시 장비입니다. 척추나 관절의 깊숙한 부위에 주사 치료나 시술을 시행할 때, 네비게이션처럼 바늘의 위치를 실시간으로 정확하게 안내하여 오차 없는 정밀한 치료를 가능하게 합니다.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안전 플러스: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최신 </a:t>
            </a:r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방사선 피폭 저감 장치인 SELD가 탑재</a:t>
            </a:r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되어 있어, 의료진과 환자분이 받는 불필요한 방사선 노출량을 획기적으로 줄여 더욱 안심하고 치료받으실 수 있습니다.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20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04. 최신 신경전도 및 근전도 검사 기기 (NCS/EMG)</a:t>
            </a:r>
            <a:endParaRPr lang="ko-KR" altLang="en-US" sz="20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(Nerve Conduction Study / Electromyography Machine)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"눈에 보이지 않는 신경과 근육의 기능적 이상을 찾아내는 정밀 검사"</a:t>
            </a:r>
            <a:endParaRPr lang="ko-KR" altLang="en-US" sz="1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r>
              <a:rPr sz="14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영상 검사(MRI, X-ray)만으로는 알 수 없는 신경의 기능적 상태를 전기적 신호를 통해 평가합니다. 손발 저림, 감각 이상, 근력 약화 등이 있을 때, 이것이 신경의 문제인지 근육 자체의 문제인지, 신경 손상이라면 그 위치와 심각도는 어느 정도인지를 명확하게 감별 진단합니다. (예: 손목터널증후군, 목/허리 디스크로 인한 신경손상 등 진단)</a:t>
            </a:r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 sz="14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/>
            <a:endParaRPr lang="ko-KR" altLang="en-US"/>
          </a:p>
        </p:txBody>
      </p:sp>
      <p:sp>
        <p:nvSpPr>
          <p:cNvPr id="4" name="도형 3"/>
          <p:cNvSpPr>
            <a:spLocks/>
          </p:cNvSpPr>
          <p:nvPr/>
        </p:nvSpPr>
        <p:spPr>
          <a:xfrm rot="0">
            <a:off x="914400" y="1250950"/>
            <a:ext cx="5732145" cy="19685"/>
          </a:xfrm>
          <a:prstGeom prst="rect"/>
          <a:solidFill>
            <a:srgbClr val="000000"/>
          </a:solidFill>
          <a:ln>
            <a:noFill/>
            <a:prstDash/>
          </a:ln>
        </p:spPr>
        <p:txBody>
          <a:bodyPr wrap="square" lIns="90170" tIns="22860" rIns="90170" bIns="22860" vert="horz" anchor="t" upright="1">
            <a:noAutofit/>
          </a:bodyPr>
          <a:lstStyle/>
          <a:p>
            <a:pPr marL="0" indent="0" algn="just" defTabSz="508000"/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5" name="그림 4" descr="C:/Users/user/AppData/Roaming/PolarisOffice9/ETemp/10616_18485832/fImage771841112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349365" y="3635375"/>
            <a:ext cx="4756150" cy="16960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786130" y="37401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sz="2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2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4 </a:t>
            </a:r>
            <a:r>
              <a:rPr sz="2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Integrated Treatment Solutions</a:t>
            </a:r>
            <a:endParaRPr lang="ko-KR" altLang="en-US" sz="14000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>
              <a:buFontTx/>
              <a:buNone/>
            </a:pPr>
            <a:r>
              <a:rPr sz="22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통증을 넘어, 근본적인 기능 회복을 위한 통합 치료 솔루션</a:t>
            </a:r>
            <a:endParaRPr lang="ko-KR" altLang="en-US" sz="22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 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재활의학과와 정형외과의 전문성을 더해, 통증의 일시적 완화가 아닌 근본적인 원인 해결을 목표로 합니다. 대학병원급 최첨단 장비와 숙련된 노하우를 바탕으로, 환자 개개인의 상태에 최적화된 맞춤형 통합 치료 계획을 수립합니다.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서울본재활의학과의원이 지키는 3가지 약속</a:t>
            </a:r>
            <a:endParaRPr lang="ko-KR" altLang="en-US" sz="16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우리는 회복이라는 결과 앞에서 어떤 효율과도 타협하지 않습니다.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01. 엄격한 재료의 선정 (Strict Standard)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내 가족에게 쓸 수 있는 것만이 환자분에게도 허락됩니다. 우리는 임상적으로 검증된 최상의 재료만을 고집하며, 안전성과 효능에 대한 확신 없이는 절대 사용하지 않습니다.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02. 실시간 맞춤 처방 (Real-time Customization)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기계적인 루틴(Routine) 진료를 지양합니다. 매 내원 시 달라지는 신체 상태를 정밀하게 파악하여, 지금 당신에게 가장 필요한 최적의 배합으로 치료합니다.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03. 근본을 보는 통찰 (Insight for Cause)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통증은 몸이 보내는 신호일 뿐입니다. 단순한 불편함의 해소를 넘어, 불균형해진 신체 구조와 기능을 바로잡는 근본적인 치유를 지향합니다.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22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01. 정밀 영상 유도 주사 치료</a:t>
            </a:r>
            <a:endParaRPr lang="ko-KR" altLang="en-US" sz="22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 Precision Image-Guided Injection ]</a:t>
            </a:r>
            <a:endParaRPr lang="ko-KR" altLang="en-US" sz="16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"보면서 치료하는 정확함, 안전하고 빠른 통증 해결"</a:t>
            </a:r>
            <a:endParaRPr lang="ko-KR" altLang="en-US" sz="16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저희 병원의 모든 주사 치료와 시술은 '감'에 의존하지 않습니다. 반드시 초음파나 C-arm(실시간 투시 장비) 영상을 통해 병변 부위를 실시간으로 확인하며 정확하게 약물을 투여합니다. 이는 치료 효과를 극대화하고 부작용을 최소화하는 핵심 원칙입니다.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초음파 유도하 주사 (Ultrasound-Guided Injection):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진료실에서 즉시 근육, 인대, 힘줄의 손상을 확인하고, 미리 설정된 타겟에 정확히 주사하여 조직 재생과 염증 완화를 돕습니다. (예: 프롤로테라피, DNA 주사, 연골주사 등)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C-arm 중재술 (C-arm Intervention):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척추 심부나 관절 깊숙한 곳의 신경 주변에 발생하는 통증을 잡기 위해, 실시간 투시 영상을 보며 바늘을 접근시켜 신경 염증과 부종을 가라앉히는 비수술적 시술입니다. (C-arm 장비에 피폭 저감 장치 SELD 탑재)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22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02. 첨단 특수 물리·재생 치료</a:t>
            </a:r>
            <a:endParaRPr lang="ko-KR" altLang="en-US" sz="22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 Advanced Modality &amp; Regenerative Therapy ]</a:t>
            </a:r>
            <a:endParaRPr lang="ko-KR" altLang="en-US" sz="16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"대학병원급 하이엔드 장비를 이용한 비수술적 조직 재생 및 만성 통증 관리"</a:t>
            </a:r>
            <a:endParaRPr lang="ko-KR" altLang="en-US" sz="16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단순한 온열 치료를 넘어, 손상된 조직의 실질적인 재생을 유도하고 난치성 만성 통증을 조절하기 위해 대학병원에서 사용하는 최신 고가 장비들을 도입하여 운용합니다.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체외충격파 (ESWT - 집중형/방사형):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강력한 충격파 에너지를 병변에 가해 혈관 재형성을 유도하고, 뼈와 힘줄 등 조직의 재생을 촉진하는 근본적인 치료법입니다.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고강도 레이저 (HILT):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일반 레이저보다 훨씬 깊은 조직까지 강력한 에너지를 전달하여, 즉각적인 통증 감소 효과와 함께 손상된 인대 및 연골의 회복을 돕습니다.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스크램블러 테라피 (Scrambler Therapy - 페인스크램블러):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만성 통증, 신경병증성 통증 등 약물로 조절되지 않는 통증 신호를 무통증 신호로 바꾸어 뇌로 전달함으로써 통증을 잊게 만드는 신개념 통증 치료입니다.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자기장 치료 (Magnetic Field Therapy):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인체 깊숙한 곳까지 침투하는 강력한 자기장을 이용해 신경 세포를 자극하고 근육 경직을 이완시켜 통증을 완화합니다.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22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03. 도수 및 재활 운동 치료</a:t>
            </a:r>
            <a:endParaRPr lang="ko-KR" altLang="en-US" sz="22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 Manual Therapy &amp; Rehabilitation Exercise ]</a:t>
            </a:r>
            <a:endParaRPr lang="ko-KR" altLang="en-US" sz="16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"무너진 신체 밸런스를 바로잡아 재발을 막는 근본적인 해결책"</a:t>
            </a:r>
            <a:endParaRPr lang="ko-KR" altLang="en-US" sz="16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통증이 사라졌다고 치료가 끝난 것이 아닙니다. 재활의학과 전문의의 정확한 처방 하에 전문 치료사가 손상된 부위의 기능을 회복시키고, 잘못된 자세와 움직임을 교정하여 재발을 방지합니다.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1:1 도수 치료 (Manual Therapy):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전문 도수치료사가 손을 이용해 굳어진 관절을 풀어주고, 틀어진 척추와 골반의 정렬을 바로잡아 통증의 구조적인 원인을 해결합니다.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6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맞춤 재활 운동 (Therapeutic Exercise):</a:t>
            </a:r>
            <a:r>
              <a:rPr sz="16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약해진 근력을 강화하고 관절의 가동 범위를 회복시켜, 일상생활 및 스포츠 활동으로 안전하게 복귀할 수 있도록 돕는 필수적인 과정입니다.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/>
          </a:p>
        </p:txBody>
      </p:sp>
      <p:pic>
        <p:nvPicPr>
          <p:cNvPr id="4" name="그림 7" descr="C:/Users/user/AppData/Roaming/PolarisOffice9/ETemp/10616_18485832/fImage410417120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10300" y="5445125"/>
            <a:ext cx="5260340" cy="19697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400050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228600" indent="-228600">
              <a:buFont typeface="맑은 고딕"/>
              <a:buChar char="•"/>
            </a:pPr>
            <a:r>
              <a:rPr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0</a:t>
            </a:r>
            <a:r>
              <a:rPr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5 </a:t>
            </a:r>
            <a:r>
              <a:rPr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Cell Therapy (PRP)</a:t>
            </a:r>
            <a:r>
              <a:rPr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 (이페이지는 그림만 넣고 추가로 클릭 안해도 한눈에 보이도록 한</a:t>
            </a:r>
            <a:r>
              <a:rPr lang="ko-KR"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페이지로 </a:t>
            </a:r>
            <a:r>
              <a:rPr lang="ko-KR"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구성하는게 좋을듯합니다</a:t>
            </a:r>
            <a:r>
              <a:rPr lang="ko-KR" sz="2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)</a:t>
            </a:r>
            <a:endParaRPr lang="ko-KR" altLang="en-US" sz="15000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"내 혈액 속 치유 성분으로 손상된 조직을 깨우다"</a:t>
            </a:r>
            <a:endParaRPr lang="ko-KR" altLang="en-US" sz="1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PRP(자가혈소판풍부혈장) 치료는 환자 본인의 혈액에서 **치유와 재생을 담당하는 '성장인자'**만을 고농도로 농축하여 추출한 뒤, 손상된 인대, 힘줄, 연골 부위에 직접 주사하는 최신 재생 치료법입니다.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핵심 특징:</a:t>
            </a:r>
            <a:endParaRPr lang="ko-KR" altLang="en-US" sz="1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안전성: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내 혈액을 사용하므로 거부 반응이나 부작용 위험이 극히 낮습니다.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근본 치료: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일시적 통증 완화가 아닌, 약해진 조직 자체를 튼튼하게 재생시킵니다.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강력한 재생: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일반 혈액보다 3~5배 농축된 성장인자가 인체의 자연 치유력을 극대화합니다.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2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 치료 대상 (Indication) ]</a:t>
            </a:r>
            <a:endParaRPr lang="ko-KR" altLang="en-US" sz="2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"잘 낫지 않고 반복되는 만성 통증에 효과적입니다"</a:t>
            </a:r>
            <a:endParaRPr lang="ko-KR" altLang="en-US" sz="1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일반적인 물리치료나 약물치료에 반응이 더디거나, 스테로이드 주사 후에도 재발하는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만성 근골격계 질환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환자분들에게 권장됩니다.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주요 적용 질환: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✅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팔꿈치 통증: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테니스엘보(외측상과염), 골프엘보(내측상과염) ✅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무릎 통증: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초기 및 중기 퇴행성 관절염, 연골 손상 ✅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힘줄/인대 질환: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만성 회전근개 건염(어깨), 아킬레스 건염, 손목/발목 건초염 등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2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 치료 과정 (Process) ]</a:t>
            </a:r>
            <a:endParaRPr lang="ko-KR" altLang="en-US" sz="2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"당일 검사부터 시술까지, 약 30분~1시간 소요됩니다"</a:t>
            </a:r>
            <a:endParaRPr lang="ko-KR" altLang="en-US" sz="1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입원이나 복잡한 마취 없이 외래에서 간편하게 진행됩니다.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STEP 1. 채혈 (Blood Draw)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환자분의 팔에서 소량(약 20~30cc)의 혈액을 채취합니다.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STEP 2. 원심분리 및 농축 (Concentration)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특수 키트와 장비를 이용해 혈액에서 고농도 PRP만을 분리해 냅니다. (약 15분 소요)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STEP 3. 정밀 주사 시술 (Injection)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고해상도 초음파를 통해 손상 부위를 실시간으로 확인하며 정확하게 주사합니다.</a:t>
            </a:r>
            <a:endParaRPr lang="ko-KR" altLang="en-US" sz="2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 sz="2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24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[ 시술 후 관리 (Post Care) ]</a:t>
            </a:r>
            <a:endParaRPr lang="ko-KR" altLang="en-US" sz="24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"치료 효과를 극대화하고 빠른 회복을 돕는 핵심 가이드"</a:t>
            </a:r>
            <a:endParaRPr lang="ko-KR" altLang="en-US" sz="1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PRP는 인위적인 진통제가 아닌 '조직 재생' 치료이므로, 시술 후 올바른 관리와 시너지 치료가 결과에 큰 영향을 미칩니다.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>
              <a:buClr>
                <a:srgbClr val="000000"/>
              </a:buClr>
              <a:buFont typeface="맑은 고딕"/>
              <a:buChar char="·"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시술 초기 반응 (정상 과정):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시술 후 2~3일간은 치유 과정에서 뻐근한 통증이나 화끈거림이 일시적으로 증가할 수 있습니다. 이는 조직이 반응하고 있다는 신호입니다.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457200" indent="-228600" algn="just" defTabSz="508000"/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휴식 및 활동 제한: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시술 후 약 1주일 동안은 치료 부위에 무리가 가는 격렬한 운동이나 과도한 사용을 피하고 충분한 휴식을 취해주세요.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💡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 [ 효과를 극대화하는 병행 치료 전략 ]</a:t>
            </a:r>
            <a:endParaRPr lang="ko-KR" altLang="en-US" sz="1800" b="1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PRP의 재생 효과를 돕고 회복 기간을 단축하기 위해, 의료진의 판단하에 다음 치료를 병행하면 강력한 시너지 효과를 기대할 수 있습니다.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✅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재생 촉진:체외충격파(ESWT)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및 **고강도레이저(HILT)**를 통해 세포를 추가 자극하여 조직 재생 속도를 높입니다. ✅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통증 관리: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시술 직후 **크라이오(Cryotherapy, 냉각치료)**를 병행하면 급성기 통증과 부종을 효과적으로 감소시킵니다. ✅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기능 회복: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재생된 조직이 제 기능을 하도록 돕는 </a:t>
            </a:r>
            <a:r>
              <a:rPr sz="1800" b="1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전문 물리치료/도수치료</a:t>
            </a:r>
            <a:r>
              <a:rPr sz="18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병행 시 재발률이 현저히 낮아집니다.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C</a:t>
            </a:r>
            <a:r>
              <a:rPr lang="ko-KR" altLang="en-US"/>
              <a:t>ontact/Location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/>
              <a:t>지도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/>
              <a:t>주소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/>
              <a:t>오시는길</a:t>
            </a:r>
            <a:endParaRPr lang="ko-KR" altLang="en-US"/>
          </a:p>
        </p:txBody>
      </p:sp>
      <p:pic>
        <p:nvPicPr>
          <p:cNvPr id="4" name="그림 9" descr="C:/Users/user/AppData/Roaming/PolarisOffice9/ETemp/10616_18485832/fImage7233013165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62095" y="2096135"/>
            <a:ext cx="7478395" cy="39846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user</dc:creator>
  <cp:lastModifiedBy>user</cp:lastModifiedBy>
  <dc:title>PowerPoint 프레젠테이션</dc:title>
  <cp:version>10.115.195.56097</cp:version>
</cp:coreProperties>
</file>